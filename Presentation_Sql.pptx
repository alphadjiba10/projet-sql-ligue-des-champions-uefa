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59249D-60DB-4992-931D-95D844A523B7}">
  <a:tblStyle styleId="{3A59249D-60DB-4992-931D-95D844A523B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0520" y="64008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Projet SQL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Ligue des Champions UEFA </a:t>
            </a:r>
            <a:r>
              <a:rPr lang="en-US" sz="2200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22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Phase de Groupes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200400" y="3017520"/>
            <a:ext cx="2743200" cy="27432"/>
          </a:xfrm>
          <a:prstGeom prst="rect">
            <a:avLst/>
          </a:prstGeom>
          <a:solidFill>
            <a:srgbClr val="8895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Alpha Oumar DIALLO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Master 1 Data Science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Université de Strasbourg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Contexte et objectif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887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1005840" y="11887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Le problème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48640" y="164592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Comment organiser, stocker et analyser les données d'une compétition de football européen 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" name="Google Shape;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24688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1005840" y="24688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La solution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292608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Une base de données relationnelle SQLite modélisant la phase de groupes de la Champions League 2024-2025.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029200" y="1188720"/>
            <a:ext cx="11887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029200" y="137160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1565C0"/>
                </a:solidFill>
                <a:latin typeface="Trebuchet MS"/>
                <a:ea typeface="Trebuchet MS"/>
                <a:cs typeface="Trebuchet MS"/>
                <a:sym typeface="Trebuchet MS"/>
              </a:rPr>
              <a:t>16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029200" y="201168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équipes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400800" y="1188720"/>
            <a:ext cx="11887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400800" y="137160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1565C0"/>
                </a:solidFill>
                <a:latin typeface="Trebuchet MS"/>
                <a:ea typeface="Trebuchet MS"/>
                <a:cs typeface="Trebuchet MS"/>
                <a:sym typeface="Trebuchet MS"/>
              </a:rPr>
              <a:t>160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400800" y="201168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joueurs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772400" y="1188720"/>
            <a:ext cx="11887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7772400" y="137160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1565C0"/>
                </a:solidFill>
                <a:latin typeface="Trebuchet MS"/>
                <a:ea typeface="Trebuchet MS"/>
                <a:cs typeface="Trebuchet MS"/>
                <a:sym typeface="Trebuchet MS"/>
              </a:rPr>
              <a:t>24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7772400" y="201168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matchs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029200" y="2834640"/>
            <a:ext cx="11887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029200" y="301752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9A825"/>
                </a:solidFill>
                <a:latin typeface="Trebuchet MS"/>
                <a:ea typeface="Trebuchet MS"/>
                <a:cs typeface="Trebuchet MS"/>
                <a:sym typeface="Trebuchet MS"/>
              </a:rPr>
              <a:t>62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029200" y="365760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buts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400800" y="2834640"/>
            <a:ext cx="11887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400800" y="301752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C62828"/>
                </a:solidFill>
                <a:latin typeface="Trebuchet MS"/>
                <a:ea typeface="Trebuchet MS"/>
                <a:cs typeface="Trebuchet MS"/>
                <a:sym typeface="Trebuchet MS"/>
              </a:rPr>
              <a:t>34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400800" y="365760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cartons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7772400" y="2834640"/>
            <a:ext cx="11887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7772400" y="301752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2E7D32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7772400" y="365760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tables 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Utilisateurs cibles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48640" y="1280160"/>
            <a:ext cx="25603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548640" y="1280160"/>
            <a:ext cx="256032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760" y="16459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548640" y="24688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Organisateur (UEFA)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731520" y="2926080"/>
            <a:ext cx="2194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Planifier les matchs, enregistrer résultats et événements, vérifier les suspensions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383280" y="1280160"/>
            <a:ext cx="25603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3383280" y="1280160"/>
            <a:ext cx="256032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16459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/>
          <p:nvPr/>
        </p:nvSpPr>
        <p:spPr>
          <a:xfrm>
            <a:off x="3383280" y="24688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Journaliste sportif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566160" y="2926080"/>
            <a:ext cx="2194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Consulter classements des buteurs, statistiques par équipe, analyses par pays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217920" y="1280160"/>
            <a:ext cx="25603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217920" y="1280160"/>
            <a:ext cx="256032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8040" y="16459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6217920" y="24688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Supporter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400800" y="2926080"/>
            <a:ext cx="2194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Voir les résultats, le classement de son groupe, le déroulé minute par minute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Schéma de la base — 5 tables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320040" y="1188720"/>
            <a:ext cx="160020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320040" y="1188720"/>
            <a:ext cx="160020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320040" y="118872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teams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11480" y="178308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Colonnes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11480" y="2011680"/>
            <a:ext cx="1417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838"/>
                </a:solidFill>
                <a:latin typeface="Consolas"/>
                <a:ea typeface="Consolas"/>
                <a:cs typeface="Consolas"/>
                <a:sym typeface="Consolas"/>
              </a:rPr>
              <a:t>id, name, country,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838"/>
                </a:solidFill>
                <a:latin typeface="Consolas"/>
                <a:ea typeface="Consolas"/>
                <a:cs typeface="Consolas"/>
                <a:sym typeface="Consolas"/>
              </a:rPr>
              <a:t>stadium, coach, group_name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11480" y="3017520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Clé primaire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11480" y="320040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565C0"/>
                </a:solidFill>
                <a:latin typeface="Consolas"/>
                <a:ea typeface="Consolas"/>
                <a:cs typeface="Consolas"/>
                <a:sym typeface="Consolas"/>
              </a:rPr>
              <a:t>id 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2057400" y="1188720"/>
            <a:ext cx="160020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2057400" y="1188720"/>
            <a:ext cx="1600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2057400" y="118872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players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2148840" y="178308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Colonnes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2148840" y="2011680"/>
            <a:ext cx="1417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838"/>
                </a:solidFill>
                <a:latin typeface="Consolas"/>
                <a:ea typeface="Consolas"/>
                <a:cs typeface="Consolas"/>
                <a:sym typeface="Consolas"/>
              </a:rPr>
              <a:t>id, first_name, last_name,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838"/>
                </a:solidFill>
                <a:latin typeface="Consolas"/>
                <a:ea typeface="Consolas"/>
                <a:cs typeface="Consolas"/>
                <a:sym typeface="Consolas"/>
              </a:rPr>
              <a:t>position, jersey_number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2148840" y="3017520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Clé primaire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2148840" y="320040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565C0"/>
                </a:solidFill>
                <a:latin typeface="Consolas"/>
                <a:ea typeface="Consolas"/>
                <a:cs typeface="Consolas"/>
                <a:sym typeface="Consolas"/>
              </a:rPr>
              <a:t>id 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2148840" y="3474720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Clés étrangères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2148840" y="365760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C62828"/>
                </a:solidFill>
                <a:latin typeface="Consolas"/>
                <a:ea typeface="Consolas"/>
                <a:cs typeface="Consolas"/>
                <a:sym typeface="Consolas"/>
              </a:rPr>
              <a:t>team_id → teams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3794760" y="1188720"/>
            <a:ext cx="160020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3794760" y="1188720"/>
            <a:ext cx="1600200" cy="4572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3794760" y="118872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matches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3886200" y="178308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Colonnes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886200" y="2011680"/>
            <a:ext cx="1417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838"/>
                </a:solidFill>
                <a:latin typeface="Consolas"/>
                <a:ea typeface="Consolas"/>
                <a:cs typeface="Consolas"/>
                <a:sym typeface="Consolas"/>
              </a:rPr>
              <a:t>id, matchday, match_date,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838"/>
                </a:solidFill>
                <a:latin typeface="Consolas"/>
                <a:ea typeface="Consolas"/>
                <a:cs typeface="Consolas"/>
                <a:sym typeface="Consolas"/>
              </a:rPr>
              <a:t>home_score, away_score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3886200" y="3017520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Clé primaire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886200" y="320040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565C0"/>
                </a:solidFill>
                <a:latin typeface="Consolas"/>
                <a:ea typeface="Consolas"/>
                <a:cs typeface="Consolas"/>
                <a:sym typeface="Consolas"/>
              </a:rPr>
              <a:t>id 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3886200" y="3474720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Clés étrangères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3886200" y="365760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C62828"/>
                </a:solidFill>
                <a:latin typeface="Consolas"/>
                <a:ea typeface="Consolas"/>
                <a:cs typeface="Consolas"/>
                <a:sym typeface="Consolas"/>
              </a:rPr>
              <a:t>home_team_id → teams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C62828"/>
                </a:solidFill>
                <a:latin typeface="Consolas"/>
                <a:ea typeface="Consolas"/>
                <a:cs typeface="Consolas"/>
                <a:sym typeface="Consolas"/>
              </a:rPr>
              <a:t>away_team_id → teams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532120" y="1188720"/>
            <a:ext cx="160020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5532120" y="1188720"/>
            <a:ext cx="1600200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5532120" y="118872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623560" y="178308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Colonnes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5623560" y="2011680"/>
            <a:ext cx="1417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838"/>
                </a:solidFill>
                <a:latin typeface="Consolas"/>
                <a:ea typeface="Consolas"/>
                <a:cs typeface="Consolas"/>
                <a:sym typeface="Consolas"/>
              </a:rPr>
              <a:t>id, minute, goal_type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623560" y="3017520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Clé primaire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5623560" y="320040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565C0"/>
                </a:solidFill>
                <a:latin typeface="Consolas"/>
                <a:ea typeface="Consolas"/>
                <a:cs typeface="Consolas"/>
                <a:sym typeface="Consolas"/>
              </a:rPr>
              <a:t>id 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5623560" y="3474720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Clés étrangères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623560" y="365760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C62828"/>
                </a:solidFill>
                <a:latin typeface="Consolas"/>
                <a:ea typeface="Consolas"/>
                <a:cs typeface="Consolas"/>
                <a:sym typeface="Consolas"/>
              </a:rPr>
              <a:t>match_id → matches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C62828"/>
                </a:solidFill>
                <a:latin typeface="Consolas"/>
                <a:ea typeface="Consolas"/>
                <a:cs typeface="Consolas"/>
                <a:sym typeface="Consolas"/>
              </a:rPr>
              <a:t>player_id → players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7269480" y="1188720"/>
            <a:ext cx="160020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7269480" y="1188720"/>
            <a:ext cx="1600200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7269480" y="118872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cards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7360920" y="178308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Colonnes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7360920" y="2011680"/>
            <a:ext cx="1417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2838"/>
                </a:solidFill>
                <a:latin typeface="Consolas"/>
                <a:ea typeface="Consolas"/>
                <a:cs typeface="Consolas"/>
                <a:sym typeface="Consolas"/>
              </a:rPr>
              <a:t>id, card_type, minute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7360920" y="3017520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Clé primaire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7360920" y="320040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565C0"/>
                </a:solidFill>
                <a:latin typeface="Consolas"/>
                <a:ea typeface="Consolas"/>
                <a:cs typeface="Consolas"/>
                <a:sym typeface="Consolas"/>
              </a:rPr>
              <a:t>id 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7360920" y="3474720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Clés étrangères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7360920" y="365760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C62828"/>
                </a:solidFill>
                <a:latin typeface="Consolas"/>
                <a:ea typeface="Consolas"/>
                <a:cs typeface="Consolas"/>
                <a:sym typeface="Consolas"/>
              </a:rPr>
              <a:t>match_id → matches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C62828"/>
                </a:solidFill>
                <a:latin typeface="Consolas"/>
                <a:ea typeface="Consolas"/>
                <a:cs typeface="Consolas"/>
                <a:sym typeface="Consolas"/>
              </a:rPr>
              <a:t>player_id → players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Diagramme Entité-Relation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3429000" y="1920240"/>
            <a:ext cx="2286000" cy="64008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3429000" y="19202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matches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57200" y="914400"/>
            <a:ext cx="2011680" cy="6400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457200" y="91440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teams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675120" y="914400"/>
            <a:ext cx="201168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675120" y="91440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players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371600" y="3474720"/>
            <a:ext cx="2011680" cy="6400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371600" y="347472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760720" y="3474720"/>
            <a:ext cx="2011680" cy="6400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5760720" y="347472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cards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7"/>
          <p:cNvCxnSpPr/>
          <p:nvPr/>
        </p:nvCxnSpPr>
        <p:spPr>
          <a:xfrm>
            <a:off x="2468880" y="1234440"/>
            <a:ext cx="960120" cy="1005840"/>
          </a:xfrm>
          <a:prstGeom prst="straightConnector1">
            <a:avLst/>
          </a:prstGeom>
          <a:noFill/>
          <a:ln cap="flat" cmpd="sng" w="19050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7"/>
          <p:cNvSpPr/>
          <p:nvPr/>
        </p:nvSpPr>
        <p:spPr>
          <a:xfrm>
            <a:off x="2560320" y="14630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1:N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7"/>
          <p:cNvCxnSpPr/>
          <p:nvPr/>
        </p:nvCxnSpPr>
        <p:spPr>
          <a:xfrm>
            <a:off x="2468880" y="1234440"/>
            <a:ext cx="4206240" cy="0"/>
          </a:xfrm>
          <a:prstGeom prst="straightConnector1">
            <a:avLst/>
          </a:prstGeom>
          <a:noFill/>
          <a:ln cap="flat" cmpd="sng" w="19050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7"/>
          <p:cNvSpPr/>
          <p:nvPr/>
        </p:nvSpPr>
        <p:spPr>
          <a:xfrm>
            <a:off x="4297680" y="777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1:N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7"/>
          <p:cNvCxnSpPr/>
          <p:nvPr/>
        </p:nvCxnSpPr>
        <p:spPr>
          <a:xfrm flipH="1">
            <a:off x="2423160" y="2560320"/>
            <a:ext cx="1463040" cy="914400"/>
          </a:xfrm>
          <a:prstGeom prst="straightConnector1">
            <a:avLst/>
          </a:prstGeom>
          <a:noFill/>
          <a:ln cap="flat" cmpd="sng" w="19050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7"/>
          <p:cNvSpPr/>
          <p:nvPr/>
        </p:nvSpPr>
        <p:spPr>
          <a:xfrm>
            <a:off x="2651760" y="28346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1:N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7"/>
          <p:cNvCxnSpPr/>
          <p:nvPr/>
        </p:nvCxnSpPr>
        <p:spPr>
          <a:xfrm>
            <a:off x="5257800" y="2560320"/>
            <a:ext cx="1463040" cy="914400"/>
          </a:xfrm>
          <a:prstGeom prst="straightConnector1">
            <a:avLst/>
          </a:prstGeom>
          <a:noFill/>
          <a:ln cap="flat" cmpd="sng" w="19050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7"/>
          <p:cNvSpPr/>
          <p:nvPr/>
        </p:nvSpPr>
        <p:spPr>
          <a:xfrm>
            <a:off x="6217920" y="28346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1:N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7"/>
          <p:cNvCxnSpPr/>
          <p:nvPr/>
        </p:nvCxnSpPr>
        <p:spPr>
          <a:xfrm flipH="1">
            <a:off x="2651760" y="1554480"/>
            <a:ext cx="4297680" cy="1920240"/>
          </a:xfrm>
          <a:prstGeom prst="straightConnector1">
            <a:avLst/>
          </a:prstGeom>
          <a:noFill/>
          <a:ln cap="flat" cmpd="sng" w="12700">
            <a:solidFill>
              <a:srgbClr val="E8ECF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3" name="Google Shape;153;p7"/>
          <p:cNvCxnSpPr/>
          <p:nvPr/>
        </p:nvCxnSpPr>
        <p:spPr>
          <a:xfrm flipH="1">
            <a:off x="6858000" y="1554480"/>
            <a:ext cx="457200" cy="1920240"/>
          </a:xfrm>
          <a:prstGeom prst="straightConnector1">
            <a:avLst/>
          </a:prstGeom>
          <a:noFill/>
          <a:ln cap="flat" cmpd="sng" w="12700">
            <a:solidFill>
              <a:srgbClr val="E8ECF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Trait plein = relation directe  |  Trait pointillé = relation via clé étrangère  |  1:N = un-à-plusieurs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Choix de conception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57200" y="1051560"/>
            <a:ext cx="54864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685800" y="10515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Pourquoi pas de table groups séparée 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Chaque équipe appartient à un seul groupe (A/B/C/D). Une colonne group_name avec CHECK suffit — pas besoin d'une table avec seulement un id et un nom.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57200" y="2057400"/>
            <a:ext cx="54864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685800" y="20574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Pourquoi séparer goals et cards des matches 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685800" y="237744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Un match peut avoir plusieurs buts et cartons → respecte la 1ère forme normale. Permet aussi de requêter les stats par joueur.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57200" y="3063240"/>
            <a:ext cx="54864" cy="8229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685800" y="30632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Pourquoi le score dans matches ET la table goals 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85800" y="33832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Redondance volontaire : le score dans matches simplifie les classements. En production, un trigger SQL assurerait la cohérence.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57200" y="4069080"/>
            <a:ext cx="54864" cy="8229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685800" y="40690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Pourquoi TEXT pour les dates 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685800" y="43891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SQLite n'a pas de type DATE natif. Le format YYYY-MM-DD permet le tri et les comparaisons directement.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Composition des groupes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11480" y="1188720"/>
            <a:ext cx="19659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411480" y="1188720"/>
            <a:ext cx="196596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411480" y="118872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Groupe 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548640" y="19202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Real Madrid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9"/>
          <p:cNvCxnSpPr/>
          <p:nvPr/>
        </p:nvCxnSpPr>
        <p:spPr>
          <a:xfrm>
            <a:off x="685800" y="2423160"/>
            <a:ext cx="1417320" cy="0"/>
          </a:xfrm>
          <a:prstGeom prst="straightConnector1">
            <a:avLst/>
          </a:prstGeom>
          <a:noFill/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9"/>
          <p:cNvSpPr/>
          <p:nvPr/>
        </p:nvSpPr>
        <p:spPr>
          <a:xfrm>
            <a:off x="548640" y="251460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PSG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9"/>
          <p:cNvCxnSpPr/>
          <p:nvPr/>
        </p:nvCxnSpPr>
        <p:spPr>
          <a:xfrm>
            <a:off x="685800" y="3017520"/>
            <a:ext cx="1417320" cy="0"/>
          </a:xfrm>
          <a:prstGeom prst="straightConnector1">
            <a:avLst/>
          </a:prstGeom>
          <a:noFill/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9"/>
          <p:cNvSpPr/>
          <p:nvPr/>
        </p:nvSpPr>
        <p:spPr>
          <a:xfrm>
            <a:off x="548640" y="310896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Ajax Amsterdam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9"/>
          <p:cNvCxnSpPr/>
          <p:nvPr/>
        </p:nvCxnSpPr>
        <p:spPr>
          <a:xfrm>
            <a:off x="685800" y="3611880"/>
            <a:ext cx="1417320" cy="0"/>
          </a:xfrm>
          <a:prstGeom prst="straightConnector1">
            <a:avLst/>
          </a:prstGeom>
          <a:noFill/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9"/>
          <p:cNvSpPr/>
          <p:nvPr/>
        </p:nvSpPr>
        <p:spPr>
          <a:xfrm>
            <a:off x="548640" y="37033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Celtic Glasgow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2560320" y="1188720"/>
            <a:ext cx="19659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2560320" y="1188720"/>
            <a:ext cx="196596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2560320" y="118872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Groupe 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2697480" y="19202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FC Barcelone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9"/>
          <p:cNvCxnSpPr/>
          <p:nvPr/>
        </p:nvCxnSpPr>
        <p:spPr>
          <a:xfrm>
            <a:off x="2834640" y="2423160"/>
            <a:ext cx="1417320" cy="0"/>
          </a:xfrm>
          <a:prstGeom prst="straightConnector1">
            <a:avLst/>
          </a:prstGeom>
          <a:noFill/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9"/>
          <p:cNvSpPr/>
          <p:nvPr/>
        </p:nvSpPr>
        <p:spPr>
          <a:xfrm>
            <a:off x="2697480" y="251460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Bayern Munich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9"/>
          <p:cNvCxnSpPr/>
          <p:nvPr/>
        </p:nvCxnSpPr>
        <p:spPr>
          <a:xfrm>
            <a:off x="2834640" y="3017520"/>
            <a:ext cx="1417320" cy="0"/>
          </a:xfrm>
          <a:prstGeom prst="straightConnector1">
            <a:avLst/>
          </a:prstGeom>
          <a:noFill/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9"/>
          <p:cNvSpPr/>
          <p:nvPr/>
        </p:nvSpPr>
        <p:spPr>
          <a:xfrm>
            <a:off x="2697480" y="310896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FC Porto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9"/>
          <p:cNvCxnSpPr/>
          <p:nvPr/>
        </p:nvCxnSpPr>
        <p:spPr>
          <a:xfrm>
            <a:off x="2834640" y="3611880"/>
            <a:ext cx="1417320" cy="0"/>
          </a:xfrm>
          <a:prstGeom prst="straightConnector1">
            <a:avLst/>
          </a:prstGeom>
          <a:noFill/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9"/>
          <p:cNvSpPr/>
          <p:nvPr/>
        </p:nvSpPr>
        <p:spPr>
          <a:xfrm>
            <a:off x="2697480" y="37033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Feyenoord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709160" y="1188720"/>
            <a:ext cx="19659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4709160" y="1188720"/>
            <a:ext cx="1965960" cy="5029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4709160" y="118872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Groupe 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846320" y="19202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Manchester City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9"/>
          <p:cNvCxnSpPr/>
          <p:nvPr/>
        </p:nvCxnSpPr>
        <p:spPr>
          <a:xfrm>
            <a:off x="4983480" y="2423160"/>
            <a:ext cx="1417320" cy="0"/>
          </a:xfrm>
          <a:prstGeom prst="straightConnector1">
            <a:avLst/>
          </a:prstGeom>
          <a:noFill/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9"/>
          <p:cNvSpPr/>
          <p:nvPr/>
        </p:nvSpPr>
        <p:spPr>
          <a:xfrm>
            <a:off x="4846320" y="251460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Inter Milan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9"/>
          <p:cNvCxnSpPr/>
          <p:nvPr/>
        </p:nvCxnSpPr>
        <p:spPr>
          <a:xfrm>
            <a:off x="4983480" y="3017520"/>
            <a:ext cx="1417320" cy="0"/>
          </a:xfrm>
          <a:prstGeom prst="straightConnector1">
            <a:avLst/>
          </a:prstGeom>
          <a:noFill/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9"/>
          <p:cNvSpPr/>
          <p:nvPr/>
        </p:nvSpPr>
        <p:spPr>
          <a:xfrm>
            <a:off x="4846320" y="310896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Borussia Dortmund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9"/>
          <p:cNvCxnSpPr/>
          <p:nvPr/>
        </p:nvCxnSpPr>
        <p:spPr>
          <a:xfrm>
            <a:off x="4983480" y="3611880"/>
            <a:ext cx="1417320" cy="0"/>
          </a:xfrm>
          <a:prstGeom prst="straightConnector1">
            <a:avLst/>
          </a:prstGeom>
          <a:noFill/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9"/>
          <p:cNvSpPr/>
          <p:nvPr/>
        </p:nvSpPr>
        <p:spPr>
          <a:xfrm>
            <a:off x="4846320" y="37033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Benfica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6858000" y="1188720"/>
            <a:ext cx="19659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6858000" y="1188720"/>
            <a:ext cx="196596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6858000" y="118872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Groupe 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6995160" y="19202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Liverpool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9"/>
          <p:cNvCxnSpPr/>
          <p:nvPr/>
        </p:nvCxnSpPr>
        <p:spPr>
          <a:xfrm>
            <a:off x="7132320" y="2423160"/>
            <a:ext cx="1417320" cy="0"/>
          </a:xfrm>
          <a:prstGeom prst="straightConnector1">
            <a:avLst/>
          </a:prstGeom>
          <a:noFill/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9"/>
          <p:cNvSpPr/>
          <p:nvPr/>
        </p:nvSpPr>
        <p:spPr>
          <a:xfrm>
            <a:off x="6995160" y="251460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Juventus Turin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9"/>
          <p:cNvCxnSpPr/>
          <p:nvPr/>
        </p:nvCxnSpPr>
        <p:spPr>
          <a:xfrm>
            <a:off x="7132320" y="3017520"/>
            <a:ext cx="1417320" cy="0"/>
          </a:xfrm>
          <a:prstGeom prst="straightConnector1">
            <a:avLst/>
          </a:prstGeom>
          <a:noFill/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9"/>
          <p:cNvSpPr/>
          <p:nvPr/>
        </p:nvSpPr>
        <p:spPr>
          <a:xfrm>
            <a:off x="6995160" y="310896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Atlético Madrid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9"/>
          <p:cNvCxnSpPr/>
          <p:nvPr/>
        </p:nvCxnSpPr>
        <p:spPr>
          <a:xfrm>
            <a:off x="7132320" y="3611880"/>
            <a:ext cx="1417320" cy="0"/>
          </a:xfrm>
          <a:prstGeom prst="straightConnector1">
            <a:avLst/>
          </a:prstGeom>
          <a:noFill/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9"/>
          <p:cNvSpPr/>
          <p:nvPr/>
        </p:nvSpPr>
        <p:spPr>
          <a:xfrm>
            <a:off x="6995160" y="37033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AC Milan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queries.sql — Manipulation quotidienne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0" name="Google Shape;23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0" y="13716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0"/>
          <p:cNvSpPr/>
          <p:nvPr/>
        </p:nvSpPr>
        <p:spPr>
          <a:xfrm>
            <a:off x="457200" y="20116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INSERT (4)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731520" y="2468880"/>
            <a:ext cx="2103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Ajouter un joueur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Enregistrer un match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Saisir un but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Saisir un carton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3337560" y="1097280"/>
            <a:ext cx="26517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3337560" y="1097280"/>
            <a:ext cx="265176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5" name="Google Shape;23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13716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0"/>
          <p:cNvSpPr/>
          <p:nvPr/>
        </p:nvSpPr>
        <p:spPr>
          <a:xfrm>
            <a:off x="3337560" y="20116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UPDATE (5)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3611880" y="2468880"/>
            <a:ext cx="2103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Corriger un score (VAR)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Changer un entraîneur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Corriger un type de but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Jaune → rouge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Reporter un match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6217920" y="1097280"/>
            <a:ext cx="26517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6217920" y="1097280"/>
            <a:ext cx="2651760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0" name="Google Shape;24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3760" y="13716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0"/>
          <p:cNvSpPr/>
          <p:nvPr/>
        </p:nvSpPr>
        <p:spPr>
          <a:xfrm>
            <a:off x="6217920" y="20116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DELETE (4)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6492240" y="2468880"/>
            <a:ext cx="2103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But annulé (hors-jeu)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Joueur retiré (blessure)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Carton annulé (appel)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Match annulé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Exemple : corriger un score après VAR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analysis.sql — Classement des groupes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548640" y="8686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Vue SQL « classement » créée dans schema.sql — utilise CASE, SUM, JOIN, GROUP BY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457200" y="1280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Groupe 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3" name="Google Shape;253;p11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{3A59249D-60DB-4992-931D-95D844A523B7}</a:tableStyleId>
              </a:tblPr>
              <a:tblGrid>
                <a:gridCol w="1097275"/>
                <a:gridCol w="365750"/>
                <a:gridCol w="365750"/>
                <a:gridCol w="365750"/>
                <a:gridCol w="365750"/>
                <a:gridCol w="365750"/>
                <a:gridCol w="365750"/>
                <a:gridCol w="4572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Équipe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MJ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BP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BC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Pts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 Madrid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A825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9A8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A825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9A8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Ajax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A825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9A8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Celtic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A825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9A8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4" name="Google Shape;254;p11"/>
          <p:cNvSpPr/>
          <p:nvPr/>
        </p:nvSpPr>
        <p:spPr>
          <a:xfrm>
            <a:off x="4754880" y="1280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Groupe 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5" name="Google Shape;255;p11"/>
          <p:cNvGraphicFramePr/>
          <p:nvPr/>
        </p:nvGraphicFramePr>
        <p:xfrm>
          <a:off x="475488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{3A59249D-60DB-4992-931D-95D844A523B7}</a:tableStyleId>
              </a:tblPr>
              <a:tblGrid>
                <a:gridCol w="1097275"/>
                <a:gridCol w="365750"/>
                <a:gridCol w="365750"/>
                <a:gridCol w="365750"/>
                <a:gridCol w="365750"/>
                <a:gridCol w="365750"/>
                <a:gridCol w="365750"/>
                <a:gridCol w="4572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Équipe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MJ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BP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BC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Pts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Liverpool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A825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9A8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Juventus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A825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9A8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Atlético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A825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9A8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 Milan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8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B28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A825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9A8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6" name="Google Shape;256;p11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640080" y="333756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Vue classement — Extrait SQL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640080" y="361188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CF1"/>
                </a:solidFill>
                <a:latin typeface="Consolas"/>
                <a:ea typeface="Consolas"/>
                <a:cs typeface="Consolas"/>
                <a:sym typeface="Consolas"/>
              </a:rPr>
              <a:t>SUM(CASE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CF1"/>
                </a:solidFill>
                <a:latin typeface="Consolas"/>
                <a:ea typeface="Consolas"/>
                <a:cs typeface="Consolas"/>
                <a:sym typeface="Consolas"/>
              </a:rPr>
              <a:t>  WHEN (home_team_id = t.id AND home_score &gt; away_score)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CF1"/>
                </a:solidFill>
                <a:latin typeface="Consolas"/>
                <a:ea typeface="Consolas"/>
                <a:cs typeface="Consolas"/>
                <a:sym typeface="Consolas"/>
              </a:rPr>
              <a:t>    OR (away_team_id = t.id AND away_score &gt; home_score)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CF1"/>
                </a:solidFill>
                <a:latin typeface="Consolas"/>
                <a:ea typeface="Consolas"/>
                <a:cs typeface="Consolas"/>
                <a:sym typeface="Consolas"/>
              </a:rPr>
              <a:t>  THEN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CF1"/>
                </a:solidFill>
                <a:latin typeface="Consolas"/>
                <a:ea typeface="Consolas"/>
                <a:cs typeface="Consolas"/>
                <a:sym typeface="Consolas"/>
              </a:rPr>
              <a:t>  WHEN home_score = away_score THEN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CF1"/>
                </a:solidFill>
                <a:latin typeface="Consolas"/>
                <a:ea typeface="Consolas"/>
                <a:cs typeface="Consolas"/>
                <a:sym typeface="Consolas"/>
              </a:rPr>
              <a:t>  ELSE 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CF1"/>
                </a:solidFill>
                <a:latin typeface="Consolas"/>
                <a:ea typeface="Consolas"/>
                <a:cs typeface="Consolas"/>
                <a:sym typeface="Consolas"/>
              </a:rPr>
              <a:t>END) AS "Pts"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analysis.sql — Buteurs </a:t>
            </a:r>
            <a:r>
              <a:rPr b="1" lang="en-US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et</a:t>
            </a: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statistiques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05840"/>
            <a:ext cx="475488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2"/>
          <p:cNvSpPr/>
          <p:nvPr/>
        </p:nvSpPr>
        <p:spPr>
          <a:xfrm>
            <a:off x="5669280" y="1005840"/>
            <a:ext cx="30175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5852160" y="1005840"/>
            <a:ext cx="1188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9A825"/>
                </a:solidFill>
                <a:latin typeface="Trebuchet MS"/>
                <a:ea typeface="Trebuchet MS"/>
                <a:cs typeface="Trebuchet MS"/>
                <a:sym typeface="Trebuchet MS"/>
              </a:rPr>
              <a:t>2.58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7040880" y="1005840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buts / match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5669280" y="1920240"/>
            <a:ext cx="30175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5852160" y="1920240"/>
            <a:ext cx="1188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E7D32"/>
                </a:solidFill>
                <a:latin typeface="Trebuchet MS"/>
                <a:ea typeface="Trebuchet MS"/>
                <a:cs typeface="Trebuchet MS"/>
                <a:sym typeface="Trebuchet MS"/>
              </a:rPr>
              <a:t>87%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7040880" y="1920240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buts normaux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5669280" y="2834640"/>
            <a:ext cx="30175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5852160" y="2834640"/>
            <a:ext cx="1188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C62828"/>
                </a:solidFill>
                <a:latin typeface="Trebuchet MS"/>
                <a:ea typeface="Trebuchet MS"/>
                <a:cs typeface="Trebuchet MS"/>
                <a:sym typeface="Trebuchet MS"/>
              </a:rPr>
              <a:t>13%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7040880" y="2834640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penalties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5669280" y="37947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Répartition des buts par période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5669280" y="4114800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1-15'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6263640" y="4133088"/>
            <a:ext cx="731520" cy="91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7040880" y="4114800"/>
            <a:ext cx="2743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5669280" y="4270248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16-30'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6263640" y="4288536"/>
            <a:ext cx="1371600" cy="91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7680960" y="4270248"/>
            <a:ext cx="2743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5669280" y="4425696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31-45'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6263640" y="4443984"/>
            <a:ext cx="2103120" cy="91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8412480" y="4425696"/>
            <a:ext cx="2743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5669280" y="4581144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46-60'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6263640" y="4599432"/>
            <a:ext cx="1463040" cy="91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7772400" y="4581144"/>
            <a:ext cx="2743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5669280" y="4736592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61-75'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6263640" y="4754880"/>
            <a:ext cx="1920240" cy="91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8229600" y="4736592"/>
            <a:ext cx="2743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5669280" y="4892040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76-90'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6263640" y="4910328"/>
            <a:ext cx="1645920" cy="91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7955280" y="4892040"/>
            <a:ext cx="2743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analysis.sql — Requêtes avancées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457200" y="1097280"/>
            <a:ext cx="40233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3383280" y="1188720"/>
            <a:ext cx="914400" cy="274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3383280" y="11887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JOIN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594360" y="11887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JOIN (simple, double, LEFT JOIN)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594360" y="16002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Fiche d'un match : double JOIN teams pour domicile et extérieur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4754880" y="1097280"/>
            <a:ext cx="40233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7680960" y="1188720"/>
            <a:ext cx="914400" cy="274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7680960" y="11887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HAVING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4892040" y="11887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GROUP BY + HAVING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4892040" y="16002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Buteurs avec 3+ buts (HAVING COUNT(*) &gt;= 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457200" y="2377440"/>
            <a:ext cx="40233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3383280" y="2468880"/>
            <a:ext cx="914400" cy="274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3383280" y="2468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CASE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594360" y="24688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CASE (catégories)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594360" y="28803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Profil offensif/défensif, tranches de temps des buts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4754880" y="2377440"/>
            <a:ext cx="40233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7680960" y="2468880"/>
            <a:ext cx="914400" cy="274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7680960" y="2468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Sous-req.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4892040" y="24688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Sous-requêtes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4892040" y="28803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Fiche complète d'une équipe avec stats calculées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457200" y="3657600"/>
            <a:ext cx="40233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3383280" y="3749040"/>
            <a:ext cx="914400" cy="274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3383280" y="37490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LEFT JOIN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594360" y="37490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LEFT JOIN + IS NULL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594360" y="41605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Attaquants sans aucun but marqué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4754880" y="3657600"/>
            <a:ext cx="40233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7680960" y="3749040"/>
            <a:ext cx="914400" cy="274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7680960" y="37490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4892040" y="37490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Agrégations + JOIN sur vue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4892040" y="41605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Statistiques par pays (AVG points, SUM buts)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2743200" y="4297680"/>
            <a:ext cx="36576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2743200" y="42976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21 requêtes d'analyse au total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4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Limitations et améliorations possibles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1" name="Google Shape;34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88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4"/>
          <p:cNvSpPr/>
          <p:nvPr/>
        </p:nvSpPr>
        <p:spPr>
          <a:xfrm>
            <a:off x="960120" y="11887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Limitations connues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548640" y="1645920"/>
            <a:ext cx="38404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Phase de groupes uniquement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Pas d'arbitres modélisés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Pas de remplacements ni passes décisives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Score redondant (pas de trigger automatique)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10 joueurs par équipe (simplifié)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4" name="Google Shape;34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1188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4"/>
          <p:cNvSpPr/>
          <p:nvPr/>
        </p:nvSpPr>
        <p:spPr>
          <a:xfrm>
            <a:off x="5257800" y="11887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83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838"/>
                </a:solidFill>
                <a:latin typeface="Calibri"/>
                <a:ea typeface="Calibri"/>
                <a:cs typeface="Calibri"/>
                <a:sym typeface="Calibri"/>
              </a:rPr>
              <a:t>Améliorations possibles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4846320" y="1645920"/>
            <a:ext cx="38404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Ajouter la phase éliminatoire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Table arbitres avec FK dans matches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Triggers pour cohérence score/buts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Table remplacements (entrée/sortie)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Migration vers PostgreSQL pour production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5A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5A7"/>
                </a:solidFill>
                <a:latin typeface="Calibri"/>
                <a:ea typeface="Calibri"/>
                <a:cs typeface="Calibri"/>
                <a:sym typeface="Calibri"/>
              </a:rPr>
              <a:t>Technologies :  SQLite  •  Mermaid (diagramme ER)  •  GitHub (hébergement)  •  SQL pur (pas de Python)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5" name="Google Shape;35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0520" y="54864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5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Merci pour votre attention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3200400" y="2377440"/>
            <a:ext cx="2743200" cy="27432"/>
          </a:xfrm>
          <a:prstGeom prst="rect">
            <a:avLst/>
          </a:prstGeom>
          <a:solidFill>
            <a:srgbClr val="8895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5 tables  •  8 index  •  1 vue  •  13 requêtes de manipulation  •  21 requêtes d'analyse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16 équipes  •  160 joueurs  •  24 matchs  •  62 buts  •  34 cartons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0" name="Google Shape;36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0520" y="365760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Questions 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